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9"/>
  </p:notesMasterIdLst>
  <p:handoutMasterIdLst>
    <p:handoutMasterId r:id="rId30"/>
  </p:handoutMasterIdLst>
  <p:sldIdLst>
    <p:sldId id="256" r:id="rId2"/>
    <p:sldId id="273" r:id="rId3"/>
    <p:sldId id="257" r:id="rId4"/>
    <p:sldId id="258" r:id="rId5"/>
    <p:sldId id="259" r:id="rId6"/>
    <p:sldId id="260" r:id="rId7"/>
    <p:sldId id="261" r:id="rId8"/>
    <p:sldId id="262" r:id="rId9"/>
    <p:sldId id="265" r:id="rId10"/>
    <p:sldId id="266" r:id="rId11"/>
    <p:sldId id="263" r:id="rId12"/>
    <p:sldId id="264" r:id="rId13"/>
    <p:sldId id="267" r:id="rId14"/>
    <p:sldId id="268" r:id="rId15"/>
    <p:sldId id="269" r:id="rId16"/>
    <p:sldId id="270" r:id="rId17"/>
    <p:sldId id="271" r:id="rId18"/>
    <p:sldId id="272" r:id="rId19"/>
    <p:sldId id="274" r:id="rId20"/>
    <p:sldId id="275" r:id="rId21"/>
    <p:sldId id="276" r:id="rId22"/>
    <p:sldId id="277" r:id="rId23"/>
    <p:sldId id="278" r:id="rId24"/>
    <p:sldId id="279" r:id="rId25"/>
    <p:sldId id="282" r:id="rId26"/>
    <p:sldId id="280" r:id="rId27"/>
    <p:sldId id="281" r:id="rId28"/>
  </p:sldIdLst>
  <p:sldSz cx="12192000" cy="6858000"/>
  <p:notesSz cx="6797675" cy="992505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2B18E2-854F-45FE-9532-AAD650ABB2C9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50443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777ECA-D892-40DE-A8FD-3A9CF8DC8A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15677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F62F69-0E46-4030-92A7-764D0AC133A9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300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76431"/>
            <a:ext cx="5438140" cy="3907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361A15-AA1D-4B60-811F-87D7DBFE8B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5660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361A15-AA1D-4B60-811F-87D7DBFE8B82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8153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F20DC63-566A-40ED-9F9D-CBEF502A9315}" type="datetime1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360474-6913-494C-B2AC-FC4AE8829B25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024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4E229-F7E2-4A50-A718-7160D0D47385}" type="datetime1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8170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2363D-F99E-4DD5-BAB1-A99876061060}" type="datetime1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3767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DB5C1-FFFF-4EA1-A85A-D95545FD8625}" type="datetime1">
              <a:rPr lang="ru-RU" smtClean="0"/>
              <a:t>01.12.2025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6529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576D2-6012-49B8-9B41-6D322DA94C94}" type="datetime1">
              <a:rPr lang="ru-RU" smtClean="0"/>
              <a:t>01.12.2025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2281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0C493-1EC8-4EBD-897A-E76B0230F7B0}" type="datetime1">
              <a:rPr lang="ru-RU" smtClean="0"/>
              <a:t>01.12.2025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7085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D92A3-7294-47AC-BBC0-C2EAB34C113E}" type="datetime1">
              <a:rPr lang="ru-RU" smtClean="0"/>
              <a:t>01.12.2025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7981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92977-B2D9-4F74-8D33-1118DF53D09D}" type="datetime1">
              <a:rPr lang="ru-RU" smtClean="0"/>
              <a:t>01.12.2025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4646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4284A-093F-4590-87E6-A8D40B410D2E}" type="datetime1">
              <a:rPr lang="ru-RU" smtClean="0"/>
              <a:t>01.12.2025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1444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A7226-2AC9-4965-A149-2CC7EEEEBC04}" type="datetime1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8174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0BC97-16A5-487C-A803-0B7DADF73BF1}" type="datetime1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1982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75047309-2E82-4A1F-8E03-51BF990E7A51}" type="datetime1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A3360474-6913-494C-B2AC-FC4AE8829B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807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tx1"/>
        </a:buClr>
        <a:buSzPct val="80000"/>
        <a:buFont typeface="Corbe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oka.guide/css/inset/" TargetMode="External"/><Relationship Id="rId2" Type="http://schemas.openxmlformats.org/officeDocument/2006/relationships/hyperlink" Target="https://doka.guide/css/position/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6000" dirty="0" smtClean="0"/>
              <a:t>ПОТОК ВЫВОДА ЭЛЕМНТОВ НА СТРАНИЦУ</a:t>
            </a:r>
            <a:endParaRPr lang="ru-RU" sz="60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Мухина Юлия </a:t>
            </a:r>
            <a:r>
              <a:rPr lang="ru-RU" smtClean="0"/>
              <a:t>Рамилевна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6217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smtClean="0"/>
              <a:t>Поток вы</a:t>
            </a:r>
            <a:r>
              <a:rPr lang="ru-RU" b="1"/>
              <a:t>в</a:t>
            </a:r>
            <a:r>
              <a:rPr lang="ru-RU" b="1" smtClean="0"/>
              <a:t>ода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800" b="1" dirty="0"/>
              <a:t>Потоком документа</a:t>
            </a:r>
            <a:r>
              <a:rPr lang="ru-RU" sz="2800" dirty="0"/>
              <a:t> в HTML – это порядок вывода элементов на веб-страницу. </a:t>
            </a:r>
            <a:endParaRPr lang="ru-RU" sz="2800" dirty="0" smtClean="0"/>
          </a:p>
          <a:p>
            <a:pPr marL="45720" indent="0">
              <a:buNone/>
            </a:pPr>
            <a:r>
              <a:rPr lang="ru-RU" sz="2800" dirty="0" smtClean="0"/>
              <a:t>Обычно </a:t>
            </a:r>
            <a:r>
              <a:rPr lang="ru-RU" sz="2800" dirty="0"/>
              <a:t>блоки на страницу выводятся в том порядке, в котором они записаны внутри тела </a:t>
            </a:r>
            <a:r>
              <a:rPr lang="en-US" sz="2800" dirty="0"/>
              <a:t>HTML</a:t>
            </a:r>
            <a:r>
              <a:rPr lang="ru-RU" sz="2800" dirty="0"/>
              <a:t>-документа.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933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Типы элементов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z="2800" dirty="0"/>
              <a:t>Блочные элементы (</a:t>
            </a:r>
            <a:r>
              <a:rPr lang="en-US" sz="2800" dirty="0"/>
              <a:t>CSS</a:t>
            </a:r>
            <a:r>
              <a:rPr lang="ru-RU" sz="2800" dirty="0"/>
              <a:t>-свойство </a:t>
            </a:r>
            <a:r>
              <a:rPr lang="ru-RU" sz="2800" dirty="0" err="1"/>
              <a:t>display</a:t>
            </a:r>
            <a:r>
              <a:rPr lang="ru-RU" sz="2800" dirty="0"/>
              <a:t> равно </a:t>
            </a:r>
            <a:r>
              <a:rPr lang="ru-RU" sz="2800" dirty="0" err="1"/>
              <a:t>block</a:t>
            </a:r>
            <a:r>
              <a:rPr lang="ru-RU" sz="2800" dirty="0"/>
              <a:t>).</a:t>
            </a:r>
          </a:p>
          <a:p>
            <a:pPr lvl="0"/>
            <a:r>
              <a:rPr lang="ru-RU" sz="2800" dirty="0"/>
              <a:t>Строчные элементы (</a:t>
            </a:r>
            <a:r>
              <a:rPr lang="en-US" sz="2800" dirty="0"/>
              <a:t>CSS</a:t>
            </a:r>
            <a:r>
              <a:rPr lang="ru-RU" sz="2800" dirty="0"/>
              <a:t>-свойство </a:t>
            </a:r>
            <a:r>
              <a:rPr lang="ru-RU" sz="2800" dirty="0" err="1"/>
              <a:t>display</a:t>
            </a:r>
            <a:r>
              <a:rPr lang="ru-RU" sz="2800" dirty="0"/>
              <a:t> равно </a:t>
            </a:r>
            <a:r>
              <a:rPr lang="ru-RU" sz="2800" dirty="0" err="1"/>
              <a:t>inline</a:t>
            </a:r>
            <a:r>
              <a:rPr lang="ru-RU" sz="2800" dirty="0"/>
              <a:t>).</a:t>
            </a:r>
          </a:p>
          <a:p>
            <a:pPr lvl="0"/>
            <a:r>
              <a:rPr lang="ru-RU" sz="2800" dirty="0"/>
              <a:t>Строчно-блочные элементы (</a:t>
            </a:r>
            <a:r>
              <a:rPr lang="en-US" sz="2800" dirty="0"/>
              <a:t>CSS</a:t>
            </a:r>
            <a:r>
              <a:rPr lang="ru-RU" sz="2800" dirty="0"/>
              <a:t>-свойство </a:t>
            </a:r>
            <a:r>
              <a:rPr lang="ru-RU" sz="2800" dirty="0" err="1"/>
              <a:t>display</a:t>
            </a:r>
            <a:r>
              <a:rPr lang="ru-RU" sz="2800" dirty="0"/>
              <a:t> равно </a:t>
            </a:r>
            <a:r>
              <a:rPr lang="ru-RU" sz="2800" dirty="0" err="1"/>
              <a:t>inline-block</a:t>
            </a:r>
            <a:r>
              <a:rPr lang="ru-RU" sz="2800" dirty="0"/>
              <a:t>).</a:t>
            </a:r>
          </a:p>
          <a:p>
            <a:pPr marL="4572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2356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Блочные элементы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4</a:t>
            </a:fld>
            <a:endParaRPr lang="ru-RU"/>
          </a:p>
        </p:txBody>
      </p:sp>
      <p:pic>
        <p:nvPicPr>
          <p:cNvPr id="5" name="Объект 4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5859" y="1965959"/>
            <a:ext cx="5818835" cy="2210255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7265509" y="1965960"/>
            <a:ext cx="3065846" cy="4107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137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Строчные элементы</a:t>
            </a: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5</a:t>
            </a:fld>
            <a:endParaRPr lang="ru-RU"/>
          </a:p>
        </p:txBody>
      </p:sp>
      <p:pic>
        <p:nvPicPr>
          <p:cNvPr id="5" name="Объект 4"/>
          <p:cNvPicPr>
            <a:picLocks noGrp="1"/>
          </p:cNvPicPr>
          <p:nvPr>
            <p:ph idx="1"/>
          </p:nvPr>
        </p:nvPicPr>
        <p:blipFill rotWithShape="1">
          <a:blip r:embed="rId2"/>
          <a:srcRect b="5826"/>
          <a:stretch/>
        </p:blipFill>
        <p:spPr bwMode="auto">
          <a:xfrm>
            <a:off x="3600059" y="1965960"/>
            <a:ext cx="4725075" cy="330923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10926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Строчно-блочные элементы</a:t>
            </a: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6</a:t>
            </a:fld>
            <a:endParaRPr lang="ru-RU"/>
          </a:p>
        </p:txBody>
      </p:sp>
      <p:pic>
        <p:nvPicPr>
          <p:cNvPr id="5" name="Объект 4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64176" y="2142841"/>
            <a:ext cx="4559886" cy="3216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572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Строчные и строчно-блочные элементы</a:t>
            </a: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7</a:t>
            </a:fld>
            <a:endParaRPr lang="ru-RU"/>
          </a:p>
        </p:txBody>
      </p:sp>
      <p:pic>
        <p:nvPicPr>
          <p:cNvPr id="5" name="Объект 4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0" y="2101400"/>
            <a:ext cx="5489812" cy="1898024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5309268" y="4181986"/>
            <a:ext cx="6029745" cy="2224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941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Тег </a:t>
            </a:r>
            <a:r>
              <a:rPr lang="en-US" b="1" dirty="0" smtClean="0"/>
              <a:t>div</a:t>
            </a:r>
            <a:r>
              <a:rPr lang="ru-RU" b="1" dirty="0" smtClean="0"/>
              <a:t>, основные </a:t>
            </a:r>
            <a:r>
              <a:rPr lang="en-US" b="1" dirty="0" smtClean="0"/>
              <a:t>CSS</a:t>
            </a:r>
            <a:r>
              <a:rPr lang="ru-RU" b="1" dirty="0" smtClean="0"/>
              <a:t>-свойства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ru-RU" sz="2800" dirty="0" err="1"/>
              <a:t>width</a:t>
            </a:r>
            <a:r>
              <a:rPr lang="ru-RU" sz="2800" dirty="0"/>
              <a:t> – ширина блока, по умолчанию – равна ширина родительского элемента;</a:t>
            </a:r>
          </a:p>
          <a:p>
            <a:pPr lvl="0"/>
            <a:r>
              <a:rPr lang="ru-RU" sz="2800" dirty="0" err="1"/>
              <a:t>height</a:t>
            </a:r>
            <a:r>
              <a:rPr lang="ru-RU" sz="2800" dirty="0"/>
              <a:t> – высота блока, по умолчанию – равна высоте контента;</a:t>
            </a:r>
          </a:p>
          <a:p>
            <a:pPr lvl="0"/>
            <a:r>
              <a:rPr lang="ru-RU" sz="2800" dirty="0" err="1"/>
              <a:t>padding</a:t>
            </a:r>
            <a:r>
              <a:rPr lang="ru-RU" sz="2800" dirty="0"/>
              <a:t> – внутренние отступы, по умолчанию – нулевые;</a:t>
            </a:r>
          </a:p>
          <a:p>
            <a:pPr lvl="0"/>
            <a:r>
              <a:rPr lang="ru-RU" sz="2800" dirty="0" err="1"/>
              <a:t>margin</a:t>
            </a:r>
            <a:r>
              <a:rPr lang="ru-RU" sz="2800" dirty="0"/>
              <a:t> – внешние отступы, по умолчанию – нулевые;</a:t>
            </a:r>
          </a:p>
          <a:p>
            <a:pPr lvl="0"/>
            <a:r>
              <a:rPr lang="ru-RU" sz="2800" dirty="0" err="1"/>
              <a:t>border</a:t>
            </a:r>
            <a:r>
              <a:rPr lang="ru-RU" sz="2800" dirty="0"/>
              <a:t> – рамки, по умолчанию – нулевые.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2794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Отступы</a:t>
            </a:r>
            <a:r>
              <a:rPr lang="en-US" b="1" dirty="0" smtClean="0"/>
              <a:t> </a:t>
            </a:r>
            <a:r>
              <a:rPr lang="ru-RU" b="1" dirty="0" smtClean="0"/>
              <a:t>внешние (внутренние аналогично)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sz="2400" dirty="0"/>
              <a:t>margin</a:t>
            </a:r>
            <a:r>
              <a:rPr lang="ru-RU" sz="2400" dirty="0"/>
              <a:t>: </a:t>
            </a:r>
            <a:r>
              <a:rPr lang="en-US" sz="2400" dirty="0"/>
              <a:t>x</a:t>
            </a:r>
            <a:r>
              <a:rPr lang="ru-RU" sz="2400" dirty="0"/>
              <a:t>; – одинаковые внешние отступы со всех сторон. </a:t>
            </a:r>
          </a:p>
          <a:p>
            <a:pPr lvl="0"/>
            <a:r>
              <a:rPr lang="ru-RU" sz="2400" dirty="0" err="1"/>
              <a:t>margin</a:t>
            </a:r>
            <a:r>
              <a:rPr lang="ru-RU" sz="2400" dirty="0"/>
              <a:t>: y </a:t>
            </a:r>
            <a:r>
              <a:rPr lang="en-US" sz="2400" dirty="0"/>
              <a:t>x</a:t>
            </a:r>
            <a:r>
              <a:rPr lang="ru-RU" sz="2400" dirty="0"/>
              <a:t>; – отступ сверху и снизу равен </a:t>
            </a:r>
            <a:r>
              <a:rPr lang="en-US" sz="2400" dirty="0"/>
              <a:t>y</a:t>
            </a:r>
            <a:r>
              <a:rPr lang="ru-RU" sz="2400" dirty="0"/>
              <a:t>, а слева и справа – x. </a:t>
            </a:r>
            <a:endParaRPr lang="ru-RU" sz="2400" dirty="0" smtClean="0"/>
          </a:p>
          <a:p>
            <a:pPr lvl="0"/>
            <a:r>
              <a:rPr lang="ru-RU" sz="2400" dirty="0" err="1" smtClean="0"/>
              <a:t>margin</a:t>
            </a:r>
            <a:r>
              <a:rPr lang="ru-RU" sz="2400" dirty="0"/>
              <a:t>: y1 x y2; – отступ сверху равен </a:t>
            </a:r>
            <a:r>
              <a:rPr lang="en-US" sz="2400" dirty="0"/>
              <a:t>y</a:t>
            </a:r>
            <a:r>
              <a:rPr lang="ru-RU" sz="2400" dirty="0"/>
              <a:t>1, слева и справа – x, снизу – y2. </a:t>
            </a:r>
          </a:p>
          <a:p>
            <a:pPr lvl="0"/>
            <a:r>
              <a:rPr lang="ru-RU" sz="2400" dirty="0" err="1"/>
              <a:t>margin</a:t>
            </a:r>
            <a:r>
              <a:rPr lang="ru-RU" sz="2400" dirty="0"/>
              <a:t>: y1 x1 y2 </a:t>
            </a:r>
            <a:r>
              <a:rPr lang="en-US" sz="2400" dirty="0"/>
              <a:t>x</a:t>
            </a:r>
            <a:r>
              <a:rPr lang="ru-RU" sz="2400" dirty="0"/>
              <a:t>2; – отступ сверху равен </a:t>
            </a:r>
            <a:r>
              <a:rPr lang="en-US" sz="2400" dirty="0"/>
              <a:t>y</a:t>
            </a:r>
            <a:r>
              <a:rPr lang="ru-RU" sz="2400" dirty="0"/>
              <a:t>1, справа – x1, снизу – y2 слева – x2. </a:t>
            </a:r>
            <a:endParaRPr lang="ru-RU" sz="2400" dirty="0" smtClean="0"/>
          </a:p>
          <a:p>
            <a:pPr lvl="0"/>
            <a:r>
              <a:rPr lang="en-US" sz="2400" dirty="0" smtClean="0"/>
              <a:t>margin-top</a:t>
            </a:r>
            <a:r>
              <a:rPr lang="en-US" sz="2400" dirty="0"/>
              <a:t>: y;</a:t>
            </a:r>
            <a:endParaRPr lang="ru-RU" sz="2400" dirty="0"/>
          </a:p>
          <a:p>
            <a:pPr lvl="0"/>
            <a:r>
              <a:rPr lang="en-US" sz="2400" dirty="0"/>
              <a:t>margin-right: x;</a:t>
            </a:r>
            <a:endParaRPr lang="ru-RU" sz="2400" dirty="0"/>
          </a:p>
          <a:p>
            <a:pPr lvl="0"/>
            <a:r>
              <a:rPr lang="en-US" sz="2400" dirty="0"/>
              <a:t>margin-bottom: y;</a:t>
            </a:r>
            <a:endParaRPr lang="ru-RU" sz="2400" dirty="0"/>
          </a:p>
          <a:p>
            <a:pPr lvl="0"/>
            <a:r>
              <a:rPr lang="en-US" sz="2400" dirty="0"/>
              <a:t>margin-left: x;</a:t>
            </a:r>
            <a:endParaRPr lang="ru-RU" sz="24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1474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Рамки </a:t>
            </a:r>
            <a:r>
              <a:rPr lang="en-US" b="1" dirty="0" smtClean="0"/>
              <a:t>border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" indent="0">
              <a:buNone/>
            </a:pPr>
            <a:r>
              <a:rPr lang="en-US" sz="2400" dirty="0"/>
              <a:t>border: color width style;</a:t>
            </a:r>
            <a:endParaRPr lang="ru-RU" sz="2400" dirty="0"/>
          </a:p>
          <a:p>
            <a:pPr marL="45720" indent="0">
              <a:buNone/>
            </a:pPr>
            <a:r>
              <a:rPr lang="en-US" sz="2400" dirty="0" smtClean="0"/>
              <a:t>border</a:t>
            </a:r>
            <a:r>
              <a:rPr lang="ru-RU" sz="2400" dirty="0"/>
              <a:t>-</a:t>
            </a:r>
            <a:r>
              <a:rPr lang="en-US" sz="2400" dirty="0" smtClean="0"/>
              <a:t>style</a:t>
            </a:r>
            <a:endParaRPr lang="en-US" sz="2400" dirty="0"/>
          </a:p>
          <a:p>
            <a:pPr marL="45720" indent="0">
              <a:buNone/>
            </a:pPr>
            <a:r>
              <a:rPr lang="en-US" sz="2400" dirty="0" smtClean="0"/>
              <a:t>border</a:t>
            </a:r>
            <a:r>
              <a:rPr lang="ru-RU" sz="2400" dirty="0"/>
              <a:t>-</a:t>
            </a:r>
            <a:r>
              <a:rPr lang="en-US" sz="2400" dirty="0" smtClean="0"/>
              <a:t>width</a:t>
            </a:r>
          </a:p>
          <a:p>
            <a:pPr marL="45720" indent="0">
              <a:buNone/>
            </a:pPr>
            <a:r>
              <a:rPr lang="en-US" sz="2400" dirty="0" smtClean="0"/>
              <a:t>border</a:t>
            </a:r>
            <a:r>
              <a:rPr lang="ru-RU" sz="2400" dirty="0"/>
              <a:t>-</a:t>
            </a:r>
            <a:r>
              <a:rPr lang="en-US" sz="2400" dirty="0" smtClean="0"/>
              <a:t>color</a:t>
            </a:r>
          </a:p>
          <a:p>
            <a:pPr marL="45720" indent="0">
              <a:buNone/>
            </a:pPr>
            <a:r>
              <a:rPr lang="en-US" sz="2400" dirty="0" smtClean="0"/>
              <a:t>border</a:t>
            </a:r>
            <a:r>
              <a:rPr lang="ru-RU" sz="2400" dirty="0"/>
              <a:t>-</a:t>
            </a:r>
            <a:r>
              <a:rPr lang="en-US" sz="2400" dirty="0" smtClean="0"/>
              <a:t>top</a:t>
            </a:r>
          </a:p>
          <a:p>
            <a:pPr marL="45720" indent="0">
              <a:buNone/>
            </a:pPr>
            <a:r>
              <a:rPr lang="en-US" sz="2400" dirty="0" smtClean="0"/>
              <a:t>border</a:t>
            </a:r>
            <a:r>
              <a:rPr lang="ru-RU" sz="2400" dirty="0"/>
              <a:t>-</a:t>
            </a:r>
            <a:r>
              <a:rPr lang="en-US" sz="2400" dirty="0" smtClean="0"/>
              <a:t>bottom</a:t>
            </a:r>
          </a:p>
          <a:p>
            <a:pPr marL="45720" indent="0">
              <a:buNone/>
            </a:pPr>
            <a:r>
              <a:rPr lang="en-US" sz="2400" dirty="0" smtClean="0"/>
              <a:t>border</a:t>
            </a:r>
            <a:r>
              <a:rPr lang="ru-RU" sz="2400" dirty="0"/>
              <a:t>-</a:t>
            </a:r>
            <a:r>
              <a:rPr lang="en-US" sz="2400" dirty="0" smtClean="0"/>
              <a:t>right</a:t>
            </a:r>
          </a:p>
          <a:p>
            <a:pPr marL="45720" indent="0">
              <a:buNone/>
            </a:pPr>
            <a:r>
              <a:rPr lang="en-US" sz="2400" dirty="0" smtClean="0"/>
              <a:t>border</a:t>
            </a:r>
            <a:r>
              <a:rPr lang="ru-RU" sz="2400" dirty="0"/>
              <a:t>-</a:t>
            </a:r>
            <a:r>
              <a:rPr lang="en-US" sz="2400" dirty="0"/>
              <a:t>left</a:t>
            </a:r>
            <a:r>
              <a:rPr lang="ru-RU" sz="2400" dirty="0"/>
              <a:t>.</a:t>
            </a:r>
            <a:endParaRPr lang="ru-RU" sz="2400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660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Блочная модель по умолчанию (</a:t>
            </a:r>
            <a:r>
              <a:rPr lang="ru-RU" dirty="0" err="1"/>
              <a:t>box-sizing</a:t>
            </a:r>
            <a:r>
              <a:rPr lang="ru-RU" dirty="0"/>
              <a:t>: </a:t>
            </a:r>
            <a:r>
              <a:rPr lang="ru-RU" dirty="0" err="1"/>
              <a:t>content-box</a:t>
            </a:r>
            <a:r>
              <a:rPr lang="ru-RU" b="1" dirty="0" smtClean="0"/>
              <a:t>)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11</a:t>
            </a:fld>
            <a:endParaRPr lang="ru-RU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1143000" y="2202683"/>
            <a:ext cx="3852081" cy="4303118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5115868" y="2433099"/>
            <a:ext cx="3972615" cy="366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125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Блочная модель - </a:t>
            </a:r>
            <a:r>
              <a:rPr lang="ru-RU" dirty="0" err="1"/>
              <a:t>box-sizing</a:t>
            </a:r>
            <a:r>
              <a:rPr lang="ru-RU" dirty="0"/>
              <a:t>: </a:t>
            </a:r>
            <a:r>
              <a:rPr lang="en-US" dirty="0"/>
              <a:t>border</a:t>
            </a:r>
            <a:r>
              <a:rPr lang="ru-RU" dirty="0"/>
              <a:t>-</a:t>
            </a:r>
            <a:r>
              <a:rPr lang="ru-RU" dirty="0" err="1"/>
              <a:t>box</a:t>
            </a: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12</a:t>
            </a:fld>
            <a:endParaRPr lang="ru-RU"/>
          </a:p>
        </p:txBody>
      </p:sp>
      <p:pic>
        <p:nvPicPr>
          <p:cNvPr id="5" name="Объект 4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6810" y="1965960"/>
            <a:ext cx="3823950" cy="4038600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6122970" y="2284424"/>
            <a:ext cx="4059668" cy="3620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455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Горизонтальное выравнивание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02920" indent="-457200">
              <a:buFont typeface="+mj-lt"/>
              <a:buAutoNum type="arabicPeriod"/>
            </a:pPr>
            <a:r>
              <a:rPr lang="ru-RU" sz="2400" dirty="0" smtClean="0"/>
              <a:t>У </a:t>
            </a:r>
            <a:r>
              <a:rPr lang="ru-RU" sz="2400" dirty="0"/>
              <a:t>выравниваемого элемента должно быть задано CSS-свойство </a:t>
            </a:r>
            <a:r>
              <a:rPr lang="ru-RU" sz="2400" dirty="0" err="1"/>
              <a:t>margin</a:t>
            </a:r>
            <a:r>
              <a:rPr lang="ru-RU" sz="2400" dirty="0"/>
              <a:t>: 0 </a:t>
            </a:r>
            <a:r>
              <a:rPr lang="ru-RU" sz="2400" dirty="0" err="1"/>
              <a:t>auto</a:t>
            </a:r>
            <a:r>
              <a:rPr lang="ru-RU" sz="2400" dirty="0"/>
              <a:t>; (внешние отступы сверху и снизу – 0, можно задать и не нулевое значение, а слева и справа – автоматические, одинаковые).</a:t>
            </a:r>
          </a:p>
          <a:p>
            <a:pPr marL="502920" indent="-457200">
              <a:buFont typeface="+mj-lt"/>
              <a:buAutoNum type="arabicPeriod"/>
            </a:pPr>
            <a:r>
              <a:rPr lang="ru-RU" sz="2400" dirty="0" smtClean="0"/>
              <a:t>У </a:t>
            </a:r>
            <a:r>
              <a:rPr lang="ru-RU" sz="2400" dirty="0"/>
              <a:t>самого элемента должна быть задана ширина, CSS-свойство </a:t>
            </a:r>
            <a:r>
              <a:rPr lang="ru-RU" sz="2400" dirty="0" err="1"/>
              <a:t>width</a:t>
            </a:r>
            <a:r>
              <a:rPr lang="ru-RU" sz="2400" dirty="0"/>
              <a:t>.</a:t>
            </a:r>
          </a:p>
          <a:p>
            <a:pPr marL="502920" indent="-457200">
              <a:buFont typeface="+mj-lt"/>
              <a:buAutoNum type="arabicPeriod"/>
            </a:pPr>
            <a:r>
              <a:rPr lang="ru-RU" sz="2400" dirty="0" smtClean="0"/>
              <a:t>У </a:t>
            </a:r>
            <a:r>
              <a:rPr lang="ru-RU" sz="2400" dirty="0"/>
              <a:t>родителя также должна быть задана ширина, поэтому принято у контейнеров </a:t>
            </a:r>
            <a:r>
              <a:rPr lang="ru-RU" sz="2400" dirty="0" err="1"/>
              <a:t>html</a:t>
            </a:r>
            <a:r>
              <a:rPr lang="ru-RU" sz="2400" dirty="0"/>
              <a:t> и </a:t>
            </a:r>
            <a:r>
              <a:rPr lang="ru-RU" sz="2400" dirty="0" err="1"/>
              <a:t>body</a:t>
            </a:r>
            <a:r>
              <a:rPr lang="ru-RU" sz="2400" dirty="0"/>
              <a:t> задавать ширину width:100%;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9717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Горизонтальное выравнивание</a:t>
            </a: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14</a:t>
            </a:fld>
            <a:endParaRPr lang="ru-RU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1884157" y="1965960"/>
            <a:ext cx="7996821" cy="2933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3269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Горизонтальное выравнивание строчных элементов внутри блочных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sz="2800" dirty="0"/>
              <a:t>text-</a:t>
            </a:r>
            <a:r>
              <a:rPr lang="en-US" sz="2800" dirty="0" err="1"/>
              <a:t>aling</a:t>
            </a:r>
            <a:r>
              <a:rPr lang="en-US" sz="2800" dirty="0"/>
              <a:t>: center | left | right | justify</a:t>
            </a:r>
            <a:endParaRPr lang="ru-RU" sz="2800" dirty="0"/>
          </a:p>
          <a:p>
            <a:pPr marL="4572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57683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Схлопывание вертикальных отступов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16</a:t>
            </a:fld>
            <a:endParaRPr lang="ru-RU"/>
          </a:p>
        </p:txBody>
      </p:sp>
      <p:pic>
        <p:nvPicPr>
          <p:cNvPr id="5" name="Объект 4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2624" y="2057400"/>
            <a:ext cx="3753414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4624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Выпадение внешних отступов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17</a:t>
            </a:fld>
            <a:endParaRPr lang="ru-RU"/>
          </a:p>
        </p:txBody>
      </p:sp>
      <p:pic>
        <p:nvPicPr>
          <p:cNvPr id="5" name="Объект 4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015" y="2075594"/>
            <a:ext cx="4908269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5393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Управление потоком вывода – позиционирование (</a:t>
            </a:r>
            <a:r>
              <a:rPr lang="en-US" b="1" dirty="0" smtClean="0"/>
              <a:t>position</a:t>
            </a:r>
            <a:r>
              <a:rPr lang="ru-RU" b="1" dirty="0" smtClean="0"/>
              <a:t>)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ru-RU" sz="2800" dirty="0" smtClean="0"/>
              <a:t>Первый способ</a:t>
            </a:r>
            <a:r>
              <a:rPr lang="en-US" sz="2800" dirty="0" smtClean="0"/>
              <a:t> </a:t>
            </a:r>
          </a:p>
          <a:p>
            <a:pPr marL="45720" indent="0">
              <a:buNone/>
            </a:pPr>
            <a:r>
              <a:rPr lang="en-US" sz="2800" dirty="0" smtClean="0"/>
              <a:t>position</a:t>
            </a:r>
            <a:r>
              <a:rPr lang="en-US" sz="2800" dirty="0"/>
              <a:t>: static | relative | absolute | fixed | sticky</a:t>
            </a:r>
            <a:endParaRPr lang="ru-RU" sz="2800" dirty="0"/>
          </a:p>
          <a:p>
            <a:pPr marL="45720" indent="0">
              <a:buNone/>
            </a:pPr>
            <a:r>
              <a:rPr lang="ru-RU" sz="2800" b="1" i="1" dirty="0"/>
              <a:t>Значение </a:t>
            </a:r>
            <a:r>
              <a:rPr lang="en-US" sz="2800" b="1" i="1" dirty="0"/>
              <a:t>static</a:t>
            </a:r>
            <a:r>
              <a:rPr lang="en-US" sz="2800" b="1" dirty="0"/>
              <a:t> </a:t>
            </a:r>
            <a:r>
              <a:rPr lang="ru-RU" sz="2800" dirty="0"/>
              <a:t>– это значение по умолчанию, т.е. элемент выводится согласно правилам поток вывода. </a:t>
            </a:r>
            <a:endParaRPr lang="en-US" sz="2800" dirty="0" smtClean="0"/>
          </a:p>
          <a:p>
            <a:pPr marL="45720" indent="0">
              <a:buNone/>
            </a:pPr>
            <a:r>
              <a:rPr lang="ru-RU" sz="2800" dirty="0" smtClean="0"/>
              <a:t>Свойства </a:t>
            </a:r>
            <a:r>
              <a:rPr lang="ru-RU" sz="2800" dirty="0" err="1"/>
              <a:t>top</a:t>
            </a:r>
            <a:r>
              <a:rPr lang="ru-RU" sz="2800" dirty="0"/>
              <a:t>, </a:t>
            </a:r>
            <a:r>
              <a:rPr lang="ru-RU" sz="2800" dirty="0" err="1"/>
              <a:t>right</a:t>
            </a:r>
            <a:r>
              <a:rPr lang="ru-RU" sz="2800" dirty="0"/>
              <a:t>, </a:t>
            </a:r>
            <a:r>
              <a:rPr lang="ru-RU" sz="2800" dirty="0" err="1"/>
              <a:t>bottom</a:t>
            </a:r>
            <a:r>
              <a:rPr lang="ru-RU" sz="2800" dirty="0"/>
              <a:t>, </a:t>
            </a:r>
            <a:r>
              <a:rPr lang="ru-RU" sz="2800" dirty="0" err="1" smtClean="0"/>
              <a:t>left</a:t>
            </a:r>
            <a:r>
              <a:rPr lang="ru-RU" sz="2800" dirty="0" smtClean="0"/>
              <a:t> </a:t>
            </a:r>
            <a:r>
              <a:rPr lang="ru-RU" sz="2800" dirty="0"/>
              <a:t>и z-</a:t>
            </a:r>
            <a:r>
              <a:rPr lang="ru-RU" sz="2800" dirty="0" err="1"/>
              <a:t>index</a:t>
            </a:r>
            <a:r>
              <a:rPr lang="ru-RU" sz="2800" dirty="0"/>
              <a:t> не применяются к данному элементу.</a:t>
            </a:r>
          </a:p>
          <a:p>
            <a:pPr marL="4572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6681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RELATIVE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ru-RU" sz="2800" i="1" dirty="0"/>
              <a:t>Значение </a:t>
            </a:r>
            <a:r>
              <a:rPr lang="ru-RU" sz="2800" i="1" dirty="0" err="1"/>
              <a:t>relative</a:t>
            </a:r>
            <a:r>
              <a:rPr lang="ru-RU" sz="2800" dirty="0"/>
              <a:t> позволяет позиционировать элемент в соответствии с нормальным потоком вывода документа, но к элементу применимы свойства </a:t>
            </a:r>
            <a:r>
              <a:rPr lang="ru-RU" sz="2800" dirty="0" err="1"/>
              <a:t>top</a:t>
            </a:r>
            <a:r>
              <a:rPr lang="ru-RU" sz="2800" dirty="0"/>
              <a:t>, </a:t>
            </a:r>
            <a:r>
              <a:rPr lang="ru-RU" sz="2800" dirty="0" err="1"/>
              <a:t>right</a:t>
            </a:r>
            <a:r>
              <a:rPr lang="ru-RU" sz="2800" dirty="0"/>
              <a:t>, </a:t>
            </a:r>
            <a:r>
              <a:rPr lang="ru-RU" sz="2800" dirty="0" err="1"/>
              <a:t>bottom</a:t>
            </a:r>
            <a:r>
              <a:rPr lang="ru-RU" sz="2800" dirty="0"/>
              <a:t> и </a:t>
            </a:r>
            <a:r>
              <a:rPr lang="ru-RU" sz="2800" dirty="0" err="1"/>
              <a:t>left</a:t>
            </a:r>
            <a:r>
              <a:rPr lang="ru-RU" sz="2800" dirty="0"/>
              <a:t>. </a:t>
            </a:r>
            <a:endParaRPr lang="en-US" sz="2800" dirty="0" smtClean="0"/>
          </a:p>
          <a:p>
            <a:pPr marL="45720" indent="0">
              <a:buNone/>
            </a:pPr>
            <a:r>
              <a:rPr lang="ru-RU" sz="2800" dirty="0" smtClean="0"/>
              <a:t>При </a:t>
            </a:r>
            <a:r>
              <a:rPr lang="ru-RU" sz="2800" dirty="0"/>
              <a:t>этом смещение </a:t>
            </a:r>
            <a:r>
              <a:rPr lang="en-US" sz="2800" dirty="0"/>
              <a:t>relative</a:t>
            </a:r>
            <a:r>
              <a:rPr lang="ru-RU" sz="2800" dirty="0"/>
              <a:t>-элемента не влияет на положение любых других элементов, не изменяет пространство, заданное для элемента в макете страницы.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72222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Relative </a:t>
            </a:r>
            <a:r>
              <a:rPr lang="ru-RU" b="1" dirty="0" smtClean="0"/>
              <a:t>и </a:t>
            </a:r>
            <a:r>
              <a:rPr lang="en-US" b="1" dirty="0" smtClean="0"/>
              <a:t>static</a:t>
            </a: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20</a:t>
            </a:fld>
            <a:endParaRPr lang="ru-RU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1143000" y="2257026"/>
            <a:ext cx="3142397" cy="4085763"/>
          </a:xfrm>
          <a:prstGeom prst="rect">
            <a:avLst/>
          </a:prstGeom>
        </p:spPr>
      </p:pic>
      <p:pic>
        <p:nvPicPr>
          <p:cNvPr id="7" name="Объект 6"/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572019" y="2257026"/>
            <a:ext cx="3353617" cy="4082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356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ABSOLUTE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" indent="0">
              <a:buNone/>
            </a:pPr>
            <a:r>
              <a:rPr lang="ru-RU" sz="2600" i="1" dirty="0"/>
              <a:t>Значение </a:t>
            </a:r>
            <a:r>
              <a:rPr lang="en-US" sz="2600" i="1" dirty="0"/>
              <a:t>absolute</a:t>
            </a:r>
            <a:r>
              <a:rPr lang="en-US" sz="2600" dirty="0"/>
              <a:t> </a:t>
            </a:r>
            <a:r>
              <a:rPr lang="ru-RU" sz="2600" dirty="0"/>
              <a:t>удаляется элемент из обычного потока документов и для элемента в макете страницы не выделяется отдельное место. </a:t>
            </a:r>
            <a:endParaRPr lang="en-US" sz="2600" dirty="0" smtClean="0"/>
          </a:p>
          <a:p>
            <a:pPr marL="45720" indent="0">
              <a:buNone/>
            </a:pPr>
            <a:r>
              <a:rPr lang="ru-RU" sz="2600" dirty="0" smtClean="0"/>
              <a:t>Он </a:t>
            </a:r>
            <a:r>
              <a:rPr lang="ru-RU" sz="2600" dirty="0"/>
              <a:t>позиционируется относительно его ближайшего предка со значением </a:t>
            </a:r>
            <a:r>
              <a:rPr lang="ru-RU" sz="2600" dirty="0" err="1"/>
              <a:t>position:relative</a:t>
            </a:r>
            <a:r>
              <a:rPr lang="ru-RU" sz="2600" dirty="0"/>
              <a:t>, если таковой имеется; если такого элемента нет, то он позиционируется относительно окна просмотра браузера. </a:t>
            </a:r>
            <a:endParaRPr lang="en-US" sz="2600" dirty="0" smtClean="0"/>
          </a:p>
          <a:p>
            <a:pPr marL="45720" indent="0">
              <a:buNone/>
            </a:pPr>
            <a:r>
              <a:rPr lang="ru-RU" sz="2600" dirty="0" smtClean="0"/>
              <a:t>Положение </a:t>
            </a:r>
            <a:r>
              <a:rPr lang="ru-RU" sz="2600" dirty="0"/>
              <a:t>абсолютно позиционированного элемента определяется значениями </a:t>
            </a:r>
            <a:r>
              <a:rPr lang="ru-RU" sz="2600" dirty="0" err="1"/>
              <a:t>top</a:t>
            </a:r>
            <a:r>
              <a:rPr lang="ru-RU" sz="2600" dirty="0"/>
              <a:t>, </a:t>
            </a:r>
            <a:r>
              <a:rPr lang="ru-RU" sz="2600" dirty="0" err="1"/>
              <a:t>right</a:t>
            </a:r>
            <a:r>
              <a:rPr lang="ru-RU" sz="2600" dirty="0"/>
              <a:t>, </a:t>
            </a:r>
            <a:r>
              <a:rPr lang="ru-RU" sz="2600" dirty="0" err="1"/>
              <a:t>bottom</a:t>
            </a:r>
            <a:r>
              <a:rPr lang="ru-RU" sz="2600" dirty="0"/>
              <a:t> и </a:t>
            </a:r>
            <a:r>
              <a:rPr lang="ru-RU" sz="2600" dirty="0" err="1"/>
              <a:t>left</a:t>
            </a:r>
            <a:r>
              <a:rPr lang="ru-RU" sz="2600" dirty="0" smtClean="0"/>
              <a:t>.</a:t>
            </a:r>
            <a:endParaRPr lang="en-US" sz="2600" dirty="0" smtClean="0"/>
          </a:p>
          <a:p>
            <a:pPr marL="45720" indent="0">
              <a:buNone/>
            </a:pPr>
            <a:r>
              <a:rPr lang="ru-RU" sz="2600" dirty="0" smtClean="0"/>
              <a:t>Это </a:t>
            </a:r>
            <a:r>
              <a:rPr lang="ru-RU" sz="2600" dirty="0"/>
              <a:t>значение свойства </a:t>
            </a:r>
            <a:r>
              <a:rPr lang="ru-RU" sz="2600" dirty="0" err="1"/>
              <a:t>position</a:t>
            </a:r>
            <a:r>
              <a:rPr lang="ru-RU" sz="2600" dirty="0"/>
              <a:t> очень часто используется в верстке.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1206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ABSOLUTE</a:t>
            </a: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22</a:t>
            </a:fld>
            <a:endParaRPr lang="ru-RU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1006522" y="1965960"/>
            <a:ext cx="3497239" cy="4135812"/>
          </a:xfrm>
          <a:prstGeom prst="rect">
            <a:avLst/>
          </a:prstGeom>
        </p:spPr>
      </p:pic>
      <p:pic>
        <p:nvPicPr>
          <p:cNvPr id="7" name="Объект 6"/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904755" y="1965960"/>
            <a:ext cx="3802137" cy="4135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045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FIXED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ru-RU" sz="2800" i="1" dirty="0"/>
              <a:t>Свойство </a:t>
            </a:r>
            <a:r>
              <a:rPr lang="ru-RU" sz="2800" i="1" dirty="0" err="1"/>
              <a:t>fixed</a:t>
            </a:r>
            <a:r>
              <a:rPr lang="ru-RU" sz="2800" dirty="0"/>
              <a:t> также удаляется элемент из обычного потока документов и для элемента в макете страницы не выделяется отдельное место. </a:t>
            </a:r>
            <a:endParaRPr lang="en-US" sz="2800" dirty="0" smtClean="0"/>
          </a:p>
          <a:p>
            <a:pPr marL="45720" indent="0">
              <a:buNone/>
            </a:pPr>
            <a:r>
              <a:rPr lang="ru-RU" sz="2800" dirty="0" smtClean="0"/>
              <a:t>Но </a:t>
            </a:r>
            <a:r>
              <a:rPr lang="ru-RU" sz="2800" dirty="0"/>
              <a:t>в отличии от </a:t>
            </a:r>
            <a:r>
              <a:rPr lang="ru-RU" sz="2800" dirty="0" err="1"/>
              <a:t>absolute</a:t>
            </a:r>
            <a:r>
              <a:rPr lang="ru-RU" sz="2800" dirty="0"/>
              <a:t> фиксированный элемент позиционируется относительно исходного </a:t>
            </a:r>
            <a:r>
              <a:rPr lang="ru-RU" sz="2800" dirty="0" err="1"/>
              <a:t>viewport</a:t>
            </a:r>
            <a:r>
              <a:rPr lang="ru-RU" sz="2800" dirty="0"/>
              <a:t>. </a:t>
            </a:r>
            <a:endParaRPr lang="en-US" sz="2800" dirty="0" smtClean="0"/>
          </a:p>
          <a:p>
            <a:pPr marL="45720" indent="0">
              <a:buNone/>
            </a:pPr>
            <a:r>
              <a:rPr lang="ru-RU" sz="2800" b="1" dirty="0" err="1" smtClean="0"/>
              <a:t>Viewport</a:t>
            </a:r>
            <a:r>
              <a:rPr lang="ru-RU" sz="2800" b="1" dirty="0" smtClean="0"/>
              <a:t> </a:t>
            </a:r>
            <a:r>
              <a:rPr lang="ru-RU" sz="2800" b="1" dirty="0"/>
              <a:t>(область просмотра) </a:t>
            </a:r>
            <a:r>
              <a:rPr lang="ru-RU" sz="2800" dirty="0"/>
              <a:t>– это видимая пользователю область веб-страницы, то есть то, что может увидеть пользователь, не прибегая к прокрутке. </a:t>
            </a:r>
          </a:p>
          <a:p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160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Управление потоком вывода – </a:t>
            </a:r>
            <a:r>
              <a:rPr lang="ru-RU" b="1" dirty="0" smtClean="0"/>
              <a:t>обтекание (</a:t>
            </a:r>
            <a:r>
              <a:rPr lang="en-US" b="1" dirty="0" smtClean="0"/>
              <a:t>float</a:t>
            </a:r>
            <a:r>
              <a:rPr lang="ru-RU" b="1" dirty="0" smtClean="0"/>
              <a:t>)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24</a:t>
            </a:fld>
            <a:endParaRPr lang="ru-RU"/>
          </a:p>
        </p:txBody>
      </p:sp>
      <p:pic>
        <p:nvPicPr>
          <p:cNvPr id="5" name="Объект 4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0" y="2255466"/>
            <a:ext cx="4875663" cy="3678856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6288228" y="2255466"/>
            <a:ext cx="5620694" cy="290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285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 позиционировании и </a:t>
            </a:r>
            <a:r>
              <a:rPr lang="en-US" dirty="0" smtClean="0"/>
              <a:t>inset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https://doka.guide/css/position</a:t>
            </a:r>
            <a:r>
              <a:rPr lang="en-US" dirty="0" smtClean="0">
                <a:hlinkClick r:id="rId2"/>
              </a:rPr>
              <a:t>/</a:t>
            </a:r>
            <a:endParaRPr lang="en-US" dirty="0" smtClean="0"/>
          </a:p>
          <a:p>
            <a:r>
              <a:rPr lang="en-US" dirty="0">
                <a:hlinkClick r:id="rId3"/>
              </a:rPr>
              <a:t>https://doka.guide/css/inset</a:t>
            </a:r>
            <a:r>
              <a:rPr lang="en-US" dirty="0" smtClean="0">
                <a:hlinkClick r:id="rId3"/>
              </a:rPr>
              <a:t>/</a:t>
            </a:r>
            <a:endParaRPr lang="en-US" dirty="0" smtClean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15860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Свойство </a:t>
            </a:r>
            <a:r>
              <a:rPr lang="en-US" b="1" dirty="0" smtClean="0"/>
              <a:t>z-index</a:t>
            </a: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26</a:t>
            </a:fld>
            <a:endParaRPr lang="ru-RU"/>
          </a:p>
        </p:txBody>
      </p:sp>
      <p:pic>
        <p:nvPicPr>
          <p:cNvPr id="2050" name="Picture 2" descr="z-index | CSS справочник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9429" y="1647350"/>
            <a:ext cx="6817003" cy="4759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0995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Свойство </a:t>
            </a:r>
            <a:r>
              <a:rPr lang="en-US" b="1" dirty="0" smtClean="0"/>
              <a:t>z-index</a:t>
            </a: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60474-6913-494C-B2AC-FC4AE8829B25}" type="slidenum">
              <a:rPr lang="ru-RU" smtClean="0"/>
              <a:t>27</a:t>
            </a:fld>
            <a:endParaRPr lang="ru-RU"/>
          </a:p>
        </p:txBody>
      </p:sp>
      <p:pic>
        <p:nvPicPr>
          <p:cNvPr id="1038" name="Picture 14" descr="https://myblog-1258623898.cos.ap-chengdu.myqcloud.com/%E5%85%B3%E4%BA%8E%20z-index%EF%BC%8C%E4%BD%A0%E5%8F%AF%E8%83%BD%E4%B8%80%E7%9B%B4%E5%AD%98%E5%9C%A8%E8%AF%AF%E5%8C%BA/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880" y="1748045"/>
            <a:ext cx="7461759" cy="4475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8484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Базис">
  <a:themeElements>
    <a:clrScheme name="Базис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Базис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Базис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ACC63D00-1EE0-4159-BF5A-6FF02000B710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Базис</Template>
  <TotalTime>112</TotalTime>
  <Words>671</Words>
  <Application>Microsoft Office PowerPoint</Application>
  <PresentationFormat>Широкоэкранный</PresentationFormat>
  <Paragraphs>101</Paragraphs>
  <Slides>27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0" baseType="lpstr">
      <vt:lpstr>Calibri</vt:lpstr>
      <vt:lpstr>Corbel</vt:lpstr>
      <vt:lpstr>Базис</vt:lpstr>
      <vt:lpstr>ПОТОК ВЫВОДА ЭЛЕМНТОВ НА СТРАНИЦУ</vt:lpstr>
      <vt:lpstr>Поток вывода</vt:lpstr>
      <vt:lpstr>Типы элементов</vt:lpstr>
      <vt:lpstr>Блочные элементы</vt:lpstr>
      <vt:lpstr>Строчные элементы</vt:lpstr>
      <vt:lpstr>Строчно-блочные элементы</vt:lpstr>
      <vt:lpstr>Строчные и строчно-блочные элементы</vt:lpstr>
      <vt:lpstr>Тег div, основные CSS-свойства</vt:lpstr>
      <vt:lpstr>Отступы внешние (внутренние аналогично)</vt:lpstr>
      <vt:lpstr>Рамки border</vt:lpstr>
      <vt:lpstr>Блочная модель по умолчанию (box-sizing: content-box)</vt:lpstr>
      <vt:lpstr>Блочная модель - box-sizing: border-box</vt:lpstr>
      <vt:lpstr>Горизонтальное выравнивание</vt:lpstr>
      <vt:lpstr>Горизонтальное выравнивание</vt:lpstr>
      <vt:lpstr>Горизонтальное выравнивание строчных элементов внутри блочных</vt:lpstr>
      <vt:lpstr>Схлопывание вертикальных отступов</vt:lpstr>
      <vt:lpstr>Выпадение внешних отступов</vt:lpstr>
      <vt:lpstr>Управление потоком вывода – позиционирование (position)</vt:lpstr>
      <vt:lpstr>RELATIVE</vt:lpstr>
      <vt:lpstr>Relative и static</vt:lpstr>
      <vt:lpstr>ABSOLUTE</vt:lpstr>
      <vt:lpstr>ABSOLUTE</vt:lpstr>
      <vt:lpstr>FIXED</vt:lpstr>
      <vt:lpstr>Управление потоком вывода – обтекание (float)</vt:lpstr>
      <vt:lpstr>О позиционировании и inset</vt:lpstr>
      <vt:lpstr>Свойство z-index</vt:lpstr>
      <vt:lpstr>Свойство z-index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Структура  HTML-документа</dc:title>
  <dc:creator>Yulya</dc:creator>
  <cp:lastModifiedBy>Lector</cp:lastModifiedBy>
  <cp:revision>25</cp:revision>
  <cp:lastPrinted>2020-09-03T05:51:53Z</cp:lastPrinted>
  <dcterms:created xsi:type="dcterms:W3CDTF">2020-08-28T03:51:59Z</dcterms:created>
  <dcterms:modified xsi:type="dcterms:W3CDTF">2025-12-01T05:47:31Z</dcterms:modified>
</cp:coreProperties>
</file>