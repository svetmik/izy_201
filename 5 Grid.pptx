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9" r:id="rId17"/>
    <p:sldId id="270" r:id="rId18"/>
    <p:sldId id="271" r:id="rId19"/>
    <p:sldId id="275" r:id="rId20"/>
    <p:sldId id="272" r:id="rId21"/>
    <p:sldId id="273" r:id="rId22"/>
    <p:sldId id="274" r:id="rId23"/>
    <p:sldId id="276" r:id="rId24"/>
    <p:sldId id="277" r:id="rId25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C22D6-C368-4D83-AF3F-1850C438B107}" type="datetimeFigureOut">
              <a:rPr lang="ru-RU" smtClean="0"/>
              <a:t>10.02.2022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956AB-FED7-4E8F-9373-9BD26E73F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0276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84F33-6E90-449F-BF27-96F8874ACFAE}" type="datetimeFigureOut">
              <a:rPr lang="ru-RU" smtClean="0"/>
              <a:t>10.02.2022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0B728-F787-46D2-AD49-849A4A7383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28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62DF6-2571-4909-9529-80D3D841C0BD}" type="datetime1">
              <a:rPr lang="ru-RU" smtClean="0"/>
              <a:t>10.02.2022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0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53D3-C2C7-42C8-AB0D-8A2E4351F715}" type="datetime1">
              <a:rPr lang="ru-RU" smtClean="0"/>
              <a:t>10.02.2022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69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015EF-A7A1-46B5-AE9D-98D81CFD27BB}" type="datetime1">
              <a:rPr lang="ru-RU" smtClean="0"/>
              <a:t>10.02.2022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13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5D96D-11DF-41BE-AE8A-BF14E79FDDD1}" type="datetime1">
              <a:rPr lang="ru-RU" smtClean="0"/>
              <a:t>10.02.2022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09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8C4DB-99F1-4AF1-A8B4-14FA27209F22}" type="datetime1">
              <a:rPr lang="ru-RU" smtClean="0"/>
              <a:t>10.02.2022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6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E59E-3CAF-4638-BF94-66C172792766}" type="datetime1">
              <a:rPr lang="ru-RU" smtClean="0"/>
              <a:t>10.02.2022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36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4130-E538-4ACE-8B55-041CF6B94BBC}" type="datetime1">
              <a:rPr lang="ru-RU" smtClean="0"/>
              <a:t>10.02.2022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30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23CBC-14CF-4F6A-8FA0-1AB41F69CBD6}" type="datetime1">
              <a:rPr lang="ru-RU" smtClean="0"/>
              <a:t>10.02.2022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26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A1939-1866-4EBC-9307-0CEDF9E16412}" type="datetime1">
              <a:rPr lang="ru-RU" smtClean="0"/>
              <a:t>10.02.2022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37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0C514-81A8-47E6-A8FC-326597BE1BB0}" type="datetime1">
              <a:rPr lang="ru-RU" smtClean="0"/>
              <a:t>10.02.2022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73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2264-782D-4117-9DE6-04257F2B6D6E}" type="datetime1">
              <a:rPr lang="ru-RU" smtClean="0"/>
              <a:t>10.02.2022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75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0ABB-B58E-45C4-A0E9-A0118A2884DC}" type="datetime1">
              <a:rPr lang="ru-RU" smtClean="0"/>
              <a:t>10.02.2022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61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GRID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80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Основные понятия</a:t>
            </a:r>
            <a:endParaRPr lang="ru-RU" b="1" dirty="0"/>
          </a:p>
        </p:txBody>
      </p:sp>
      <p:pic>
        <p:nvPicPr>
          <p:cNvPr id="4" name="Объект 3" descr="Визуализация основных терминов грида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380" y="1825625"/>
            <a:ext cx="803323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0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Основные понятия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-контейнер, он же </a:t>
            </a:r>
            <a:r>
              <a:rPr lang="ru-RU" dirty="0" err="1"/>
              <a:t>грид</a:t>
            </a:r>
            <a:r>
              <a:rPr lang="ru-RU" dirty="0"/>
              <a:t>-родитель, верхний, родительский элемент </a:t>
            </a:r>
            <a:r>
              <a:rPr lang="ru-RU" dirty="0" err="1"/>
              <a:t>грида</a:t>
            </a:r>
            <a:r>
              <a:rPr lang="ru-RU" dirty="0"/>
              <a:t>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-элемент, он же </a:t>
            </a:r>
            <a:r>
              <a:rPr lang="ru-RU" dirty="0" err="1"/>
              <a:t>грид</a:t>
            </a:r>
            <a:r>
              <a:rPr lang="ru-RU" dirty="0"/>
              <a:t>-ребёнок, элемент первого уровня вложенности в </a:t>
            </a:r>
            <a:r>
              <a:rPr lang="ru-RU" dirty="0" err="1"/>
              <a:t>грид</a:t>
            </a:r>
            <a:r>
              <a:rPr lang="ru-RU" dirty="0"/>
              <a:t>-контейнер, собственно, его расположение — цель </a:t>
            </a:r>
            <a:r>
              <a:rPr lang="ru-RU" dirty="0" err="1"/>
              <a:t>грида</a:t>
            </a:r>
            <a:r>
              <a:rPr lang="ru-RU" dirty="0"/>
              <a:t>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</a:t>
            </a:r>
            <a:r>
              <a:rPr lang="ru-RU" dirty="0"/>
              <a:t> — </a:t>
            </a:r>
            <a:r>
              <a:rPr lang="ru-RU" dirty="0" err="1"/>
              <a:t>грид</a:t>
            </a:r>
            <a:r>
              <a:rPr lang="ru-RU" dirty="0"/>
              <a:t>-полоса, собирательный термин для ряда и колонки </a:t>
            </a:r>
            <a:r>
              <a:rPr lang="ru-RU" dirty="0" err="1"/>
              <a:t>грида</a:t>
            </a:r>
            <a:r>
              <a:rPr lang="ru-RU" dirty="0"/>
              <a:t>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</a:t>
            </a:r>
            <a:r>
              <a:rPr lang="ru-RU" dirty="0"/>
              <a:t> — </a:t>
            </a:r>
            <a:r>
              <a:rPr lang="ru-RU" dirty="0" err="1"/>
              <a:t>грид</a:t>
            </a:r>
            <a:r>
              <a:rPr lang="ru-RU" dirty="0"/>
              <a:t>-ячейка;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-линия, виртуальная граница между соседними </a:t>
            </a:r>
            <a:r>
              <a:rPr lang="ru-RU" dirty="0" err="1"/>
              <a:t>грид</a:t>
            </a:r>
            <a:r>
              <a:rPr lang="ru-RU" dirty="0"/>
              <a:t>-полосами, к которой можно привязывать </a:t>
            </a:r>
            <a:r>
              <a:rPr lang="ru-RU" dirty="0" err="1"/>
              <a:t>грид</a:t>
            </a:r>
            <a:r>
              <a:rPr lang="ru-RU" dirty="0"/>
              <a:t>-элементы;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-область, пространство для размещения </a:t>
            </a:r>
            <a:r>
              <a:rPr lang="ru-RU" dirty="0" err="1"/>
              <a:t>грид</a:t>
            </a:r>
            <a:r>
              <a:rPr lang="ru-RU" dirty="0"/>
              <a:t>-элементов, ограниченное четырьмя </a:t>
            </a:r>
            <a:r>
              <a:rPr lang="ru-RU" dirty="0" err="1"/>
              <a:t>грид</a:t>
            </a:r>
            <a:r>
              <a:rPr lang="ru-RU" dirty="0"/>
              <a:t>-линиями;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gutter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gap</a:t>
            </a:r>
            <a:r>
              <a:rPr lang="ru-RU" dirty="0"/>
              <a:t> — </a:t>
            </a:r>
            <a:r>
              <a:rPr lang="ru-RU" dirty="0" err="1"/>
              <a:t>грид</a:t>
            </a:r>
            <a:r>
              <a:rPr lang="ru-RU" dirty="0"/>
              <a:t>-интервал, промежуток между соседними </a:t>
            </a:r>
            <a:r>
              <a:rPr lang="ru-RU" dirty="0" err="1"/>
              <a:t>грид</a:t>
            </a:r>
            <a:r>
              <a:rPr lang="ru-RU" dirty="0"/>
              <a:t>-полосами.</a:t>
            </a:r>
            <a:endParaRPr lang="ru-RU" dirty="0" smtClean="0"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97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Грид</a:t>
            </a:r>
            <a:r>
              <a:rPr lang="ru-RU" dirty="0" smtClean="0"/>
              <a:t>-элементы</a:t>
            </a:r>
            <a:endParaRPr lang="ru-RU" dirty="0"/>
          </a:p>
        </p:txBody>
      </p:sp>
      <p:pic>
        <p:nvPicPr>
          <p:cNvPr id="4" name="Объект 3" descr="Мы подкрасили разделы, чтобы их было виднее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0824" y="1967897"/>
            <a:ext cx="518160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838200" y="1967897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body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display:grid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72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Грид</a:t>
            </a:r>
            <a:r>
              <a:rPr lang="ru-RU" b="1" dirty="0" smtClean="0"/>
              <a:t>-сетка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241024" cy="2609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display: grid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grid-template-columns: 100px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grid-template-rows:    100px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 descr="Сетка и блоки в ней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872" y="4014216"/>
            <a:ext cx="5171884" cy="259594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3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Координаты </a:t>
            </a:r>
            <a:r>
              <a:rPr lang="ru-RU" b="1" dirty="0" err="1" smtClean="0"/>
              <a:t>грид</a:t>
            </a:r>
            <a:r>
              <a:rPr lang="ru-RU" b="1" dirty="0" smtClean="0"/>
              <a:t>-элементов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484768"/>
            <a:ext cx="10719816" cy="52367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.element {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grid-column-start: 1;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начинается с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первой линии колонок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grid-column-end: 3;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заканчивается на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третьей линии колонок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grid-column: 1 / 3;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более короткая запись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grid-row-start: 2; 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начинается со второй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линии рядов */  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grid-row-end: 4;   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заканчивается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на четвёртой линии рядов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grid-row: 2 / 4;   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более короткая запись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8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Координаты </a:t>
            </a:r>
            <a:r>
              <a:rPr lang="ru-RU" b="1" dirty="0" err="1" smtClean="0"/>
              <a:t>грид</a:t>
            </a:r>
            <a:r>
              <a:rPr lang="ru-RU" b="1" dirty="0" smtClean="0"/>
              <a:t>-элементов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71981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grid-column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1 / 5;      /* с первой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грид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-линии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ru-RU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до пятой */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grid-column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1 / -1;     /* с первой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грид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-линии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до последней */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grid-column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1 /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4; /* с первой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грид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-линии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следующие четыре ячейки */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33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Координаты </a:t>
            </a:r>
            <a:r>
              <a:rPr lang="ru-RU" b="1" dirty="0" err="1"/>
              <a:t>грид</a:t>
            </a:r>
            <a:r>
              <a:rPr lang="ru-RU" b="1" dirty="0"/>
              <a:t>-элементов</a:t>
            </a:r>
            <a:endParaRPr lang="ru-RU" dirty="0"/>
          </a:p>
        </p:txBody>
      </p:sp>
      <p:pic>
        <p:nvPicPr>
          <p:cNvPr id="5" name="Объект 4" descr="Как это выглядит в браузере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72" y="1903888"/>
            <a:ext cx="7754112" cy="423173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19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Грид</a:t>
            </a:r>
            <a:r>
              <a:rPr lang="ru-RU" b="1" dirty="0"/>
              <a:t> области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display: grid;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grid-template-columns: 100px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600px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600px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три столбца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grid-template-rows: 40px 200px 40px;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три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ряда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grid-template-areas: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"menu header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 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первый ряд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грида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menu content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второй ряд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грида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footer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";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третий ряд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грида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header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header;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название области сетки из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grid-template-areas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.menu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menu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.content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content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.footer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footer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26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Грид</a:t>
            </a:r>
            <a:r>
              <a:rPr lang="ru-RU" b="1" dirty="0" smtClean="0"/>
              <a:t> области</a:t>
            </a:r>
            <a:endParaRPr lang="ru-RU" dirty="0"/>
          </a:p>
        </p:txBody>
      </p:sp>
      <p:pic>
        <p:nvPicPr>
          <p:cNvPr id="5" name="Объект 4" descr="Как это выглядит в браузере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72" y="1903888"/>
            <a:ext cx="7754112" cy="42317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30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Грид</a:t>
            </a:r>
            <a:r>
              <a:rPr lang="ru-RU" b="1" dirty="0" smtClean="0"/>
              <a:t>-интервалы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422679" cy="46391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.grid 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gap: 10px;       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в 10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появится между всеми элементами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row-gap: 20px;   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в 20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появится только между рядами */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column-gap: 10px;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в 10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появится только между столбцами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gap: 20px 10px;  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между рядами — 20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между столбцами — 10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827" y="1690688"/>
            <a:ext cx="4353019" cy="437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9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Gap </a:t>
            </a:r>
            <a:r>
              <a:rPr lang="ru-RU" dirty="0" smtClean="0"/>
              <a:t>и </a:t>
            </a:r>
            <a:r>
              <a:rPr lang="en-US" dirty="0" smtClean="0"/>
              <a:t>margin </a:t>
            </a:r>
            <a:endParaRPr lang="ru-RU" dirty="0"/>
          </a:p>
        </p:txBody>
      </p:sp>
      <p:pic>
        <p:nvPicPr>
          <p:cNvPr id="5" name="Рисунок 4" descr="Грид-элементы не взаимодействуют друг с другом, и их отступы не схлопываются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93" y="2091753"/>
            <a:ext cx="9339456" cy="429990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50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Размеры в </a:t>
            </a:r>
            <a:r>
              <a:rPr lang="ru-RU" b="1" dirty="0" err="1" smtClean="0"/>
              <a:t>гридах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px</a:t>
            </a:r>
            <a:r>
              <a:rPr lang="en-US" dirty="0" smtClean="0"/>
              <a:t>, </a:t>
            </a:r>
            <a:r>
              <a:rPr lang="en-US" dirty="0" err="1" smtClean="0"/>
              <a:t>em</a:t>
            </a:r>
            <a:r>
              <a:rPr lang="en-US" dirty="0" smtClean="0"/>
              <a:t>, rem</a:t>
            </a:r>
            <a:endParaRPr lang="ru-RU" dirty="0"/>
          </a:p>
          <a:p>
            <a:pPr lvl="0"/>
            <a:r>
              <a:rPr lang="ru-RU" dirty="0" err="1"/>
              <a:t>fr</a:t>
            </a:r>
            <a:r>
              <a:rPr lang="ru-RU" dirty="0"/>
              <a:t> (</a:t>
            </a:r>
            <a:r>
              <a:rPr lang="ru-RU" i="1" dirty="0" err="1"/>
              <a:t>fraction</a:t>
            </a:r>
            <a:r>
              <a:rPr lang="ru-RU" dirty="0"/>
              <a:t>) — доля доступного (свободного от другого контента) пространства в </a:t>
            </a:r>
            <a:r>
              <a:rPr lang="ru-RU" dirty="0" err="1"/>
              <a:t>грид</a:t>
            </a:r>
            <a:r>
              <a:rPr lang="ru-RU" dirty="0"/>
              <a:t>-контейнере;</a:t>
            </a:r>
          </a:p>
          <a:p>
            <a:pPr lvl="0"/>
            <a:r>
              <a:rPr lang="ru-RU" dirty="0" err="1"/>
              <a:t>auto</a:t>
            </a:r>
            <a:r>
              <a:rPr lang="ru-RU" dirty="0"/>
              <a:t> — пространство, достаточное для контента;</a:t>
            </a:r>
          </a:p>
          <a:p>
            <a:pPr lvl="0"/>
            <a:r>
              <a:rPr lang="ru-RU" dirty="0"/>
              <a:t>% — процент от доступной ширины или высоты </a:t>
            </a:r>
            <a:r>
              <a:rPr lang="ru-RU" dirty="0" err="1" smtClean="0"/>
              <a:t>грид</a:t>
            </a:r>
            <a:r>
              <a:rPr lang="ru-RU" dirty="0" smtClean="0"/>
              <a:t>-контейнера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26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4" name="Объект 3" descr="Когда контент одинаков, все возможные единицы рассчитывают размеры грид-ячеек одинаково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542936"/>
            <a:ext cx="10515600" cy="25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14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38199" y="1516466"/>
            <a:ext cx="866793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grid-template-columns: auto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при минимальном или одинаковом контенте отобразились бы так же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20% 20% 20% 20% 20%;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1fr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185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5" name="Рисунок 4" descr="Отображение в браузере грида с колонками разного размер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06439"/>
            <a:ext cx="10515600" cy="24821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15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6721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Фракции</a:t>
            </a:r>
            <a:r>
              <a:rPr lang="en-US" dirty="0" smtClean="0"/>
              <a:t> (</a:t>
            </a:r>
            <a:r>
              <a:rPr lang="en-US" dirty="0" err="1" smtClean="0"/>
              <a:t>fr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err="1"/>
              <a:t>auto</a:t>
            </a:r>
            <a:r>
              <a:rPr lang="ru-RU" dirty="0"/>
              <a:t> не сжимаются меньше наименьшего размера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2857346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6" name="Рисунок 5" descr="Как это отображается в браузере при минимальном контенте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14826"/>
            <a:ext cx="1051560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16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Когда </a:t>
            </a:r>
            <a:r>
              <a:rPr lang="ru-RU" sz="2400" dirty="0"/>
              <a:t>контент в колонках с автоматическим размером займёт свой максимум (например, текст вытянется в одну строку), всё свободное место займёт колонка размером 1fr, потому что это будет свободным местом, из которого фракции и рассчитываются</a:t>
            </a:r>
          </a:p>
        </p:txBody>
      </p:sp>
    </p:spTree>
    <p:extLst>
      <p:ext uri="{BB962C8B-B14F-4D97-AF65-F5344CB8AC3E}">
        <p14:creationId xmlns:p14="http://schemas.microsoft.com/office/powerpoint/2010/main" val="375604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7" name="Объект 6" descr="Как это отображается в браузере при минимальном контенте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14025"/>
            <a:ext cx="10515600" cy="25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17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592718"/>
            <a:ext cx="950010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Колонка </a:t>
            </a:r>
            <a:r>
              <a:rPr lang="ru-RU" sz="2400" dirty="0"/>
              <a:t>размером </a:t>
            </a:r>
            <a:r>
              <a:rPr lang="ru-RU" sz="2400" dirty="0" err="1"/>
              <a:t>auto</a:t>
            </a:r>
            <a:r>
              <a:rPr lang="ru-RU" sz="2400" dirty="0"/>
              <a:t> займёт пространство по размеру своего контента.</a:t>
            </a:r>
          </a:p>
          <a:p>
            <a:r>
              <a:rPr lang="ru-RU" sz="2400" dirty="0" smtClean="0"/>
              <a:t>Остальное </a:t>
            </a:r>
            <a:r>
              <a:rPr lang="ru-RU" sz="2400" dirty="0"/>
              <a:t>пространство (если оно будет) поделят поровну колонки размером 1fr.</a:t>
            </a:r>
          </a:p>
        </p:txBody>
      </p:sp>
    </p:spTree>
    <p:extLst>
      <p:ext uri="{BB962C8B-B14F-4D97-AF65-F5344CB8AC3E}">
        <p14:creationId xmlns:p14="http://schemas.microsoft.com/office/powerpoint/2010/main" val="2005133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в </a:t>
            </a:r>
            <a:r>
              <a:rPr lang="ru-RU" b="1" dirty="0" err="1" smtClean="0"/>
              <a:t>гридах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justify</a:t>
            </a:r>
            <a:r>
              <a:rPr lang="ru-RU" dirty="0" smtClean="0"/>
              <a:t> </a:t>
            </a:r>
            <a:r>
              <a:rPr lang="ru-RU" dirty="0"/>
              <a:t>— выравнивает относительно горизонтальной оси (она же строчная или поперечная);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align</a:t>
            </a:r>
            <a:r>
              <a:rPr lang="ru-RU" dirty="0" smtClean="0"/>
              <a:t> </a:t>
            </a:r>
            <a:r>
              <a:rPr lang="ru-RU" dirty="0"/>
              <a:t>— выравнивает относительно вертикальной оси (её ещё называют блочной или </a:t>
            </a:r>
            <a:r>
              <a:rPr lang="ru-RU" dirty="0" smtClean="0"/>
              <a:t>продольной)</a:t>
            </a:r>
            <a:r>
              <a:rPr lang="en-US" dirty="0" smtClean="0"/>
              <a:t>;</a:t>
            </a:r>
          </a:p>
          <a:p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-US" dirty="0" smtClean="0"/>
              <a:t> - c</a:t>
            </a:r>
            <a:r>
              <a:rPr lang="ru-RU" dirty="0" err="1" smtClean="0"/>
              <a:t>окращённое</a:t>
            </a:r>
            <a:r>
              <a:rPr lang="ru-RU" dirty="0" smtClean="0"/>
              <a:t> </a:t>
            </a:r>
            <a:r>
              <a:rPr lang="ru-RU" dirty="0"/>
              <a:t>свойство, описывает оба направления </a:t>
            </a:r>
            <a:r>
              <a:rPr lang="ru-RU" dirty="0" smtClean="0"/>
              <a:t>выравнивания</a:t>
            </a:r>
            <a:r>
              <a:rPr lang="en-US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гриде можно выравнивать все дочерние элементы (-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</a:t>
            </a:r>
            <a:r>
              <a:rPr lang="ru-RU" dirty="0"/>
              <a:t>), а можно — один элемент (-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ru-RU" dirty="0"/>
              <a:t>). Если выравнивать один элемент, он будет выравниваться относительно родительского элемента.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205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Выравнивание в </a:t>
            </a:r>
            <a:r>
              <a:rPr lang="ru-RU" b="1" dirty="0" err="1"/>
              <a:t>гридах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Как правило, все описанные выше свойства принимают следующие значения:</a:t>
            </a:r>
          </a:p>
          <a:p>
            <a:r>
              <a:rPr lang="ru-RU" dirty="0" err="1" smtClean="0"/>
              <a:t>start</a:t>
            </a:r>
            <a:r>
              <a:rPr lang="ru-RU" dirty="0" smtClean="0"/>
              <a:t> </a:t>
            </a:r>
            <a:r>
              <a:rPr lang="ru-RU" dirty="0"/>
              <a:t>— выравнивает элементы вровень с началом контейнера;</a:t>
            </a:r>
          </a:p>
          <a:p>
            <a:r>
              <a:rPr lang="ru-RU" dirty="0" err="1" smtClean="0"/>
              <a:t>end</a:t>
            </a:r>
            <a:r>
              <a:rPr lang="ru-RU" dirty="0" smtClean="0"/>
              <a:t> </a:t>
            </a:r>
            <a:r>
              <a:rPr lang="ru-RU" dirty="0"/>
              <a:t>— выравнивает элементы вровень с концом контейнера;</a:t>
            </a:r>
          </a:p>
          <a:p>
            <a:r>
              <a:rPr lang="ru-RU" dirty="0" err="1" smtClean="0"/>
              <a:t>center</a:t>
            </a:r>
            <a:r>
              <a:rPr lang="ru-RU" dirty="0" smtClean="0"/>
              <a:t> </a:t>
            </a:r>
            <a:r>
              <a:rPr lang="ru-RU" dirty="0"/>
              <a:t>— выравнивает элементы по центру контейнера;</a:t>
            </a:r>
          </a:p>
          <a:p>
            <a:r>
              <a:rPr lang="ru-RU" dirty="0" err="1" smtClean="0"/>
              <a:t>stretch</a:t>
            </a:r>
            <a:r>
              <a:rPr lang="ru-RU" dirty="0" smtClean="0"/>
              <a:t> </a:t>
            </a:r>
            <a:r>
              <a:rPr lang="ru-RU" dirty="0"/>
              <a:t>— заполняет всю ширину контейнера (это значение по умолчанию).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158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Выравнивание </a:t>
            </a:r>
            <a:r>
              <a:rPr lang="ru-RU" b="1" dirty="0" smtClean="0"/>
              <a:t>по горизонтали</a:t>
            </a:r>
            <a:endParaRPr lang="ru-RU" dirty="0"/>
          </a:p>
        </p:txBody>
      </p:sp>
      <p:pic>
        <p:nvPicPr>
          <p:cNvPr id="4" name="Объект 3" descr="Выравнивание по центру вдоль строчной оси: `justify-items: center`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27714"/>
            <a:ext cx="91440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Выравнивание вдоль строчной оси для отдельных элементов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84103"/>
            <a:ext cx="9144000" cy="20258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234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вертикали</a:t>
            </a:r>
            <a:endParaRPr lang="ru-RU" b="1" dirty="0"/>
          </a:p>
        </p:txBody>
      </p:sp>
      <p:pic>
        <p:nvPicPr>
          <p:cNvPr id="4" name="Объект 3" descr="Выравнивание по центру вдоль блочной оси: `align-items: center`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96" y="1584356"/>
            <a:ext cx="8234172" cy="21441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21</a:t>
            </a:fld>
            <a:endParaRPr lang="ru-RU"/>
          </a:p>
        </p:txBody>
      </p:sp>
      <p:pic>
        <p:nvPicPr>
          <p:cNvPr id="6" name="Рисунок 5" descr="Выравнивание вдоль блочной оси для отдельных элементов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96" y="3840957"/>
            <a:ext cx="8234172" cy="1956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4817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в обоих направлениях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22</a:t>
            </a:fld>
            <a:endParaRPr lang="ru-RU"/>
          </a:p>
        </p:txBody>
      </p:sp>
      <p:pic>
        <p:nvPicPr>
          <p:cNvPr id="6" name="Объект 5" descr="Выравнивание вдоль обоих направлений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38" y="2284719"/>
            <a:ext cx="9144000" cy="278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3937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</a:t>
            </a:r>
            <a:r>
              <a:rPr lang="ru-RU" b="1" dirty="0" err="1" smtClean="0"/>
              <a:t>грида</a:t>
            </a:r>
            <a:r>
              <a:rPr lang="ru-RU" b="1" dirty="0" smtClean="0"/>
              <a:t> в его контейнере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20982"/>
            <a:ext cx="10515600" cy="520049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justify-content</a:t>
            </a:r>
            <a:r>
              <a:rPr lang="ru-RU" dirty="0"/>
              <a:t> выравнивает </a:t>
            </a:r>
            <a:r>
              <a:rPr lang="ru-RU" dirty="0" err="1"/>
              <a:t>грид</a:t>
            </a:r>
            <a:r>
              <a:rPr lang="ru-RU" dirty="0"/>
              <a:t> по строчной оси.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align-content</a:t>
            </a:r>
            <a:r>
              <a:rPr lang="ru-RU" dirty="0"/>
              <a:t> — по блочной (колоночной) оси. Сокращённое свойство, описывает оба направления </a:t>
            </a:r>
            <a:r>
              <a:rPr lang="ru-RU" dirty="0" smtClean="0"/>
              <a:t>выравнивания - </a:t>
            </a:r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place-content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/>
              <a:t>Значения</a:t>
            </a:r>
            <a:r>
              <a:rPr lang="ru-RU" dirty="0"/>
              <a:t>: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ru-RU" dirty="0" smtClean="0"/>
              <a:t> </a:t>
            </a:r>
            <a:r>
              <a:rPr lang="ru-RU" dirty="0"/>
              <a:t>— выравнивает </a:t>
            </a:r>
            <a:r>
              <a:rPr lang="ru-RU" dirty="0" err="1"/>
              <a:t>грид</a:t>
            </a:r>
            <a:r>
              <a:rPr lang="ru-RU" dirty="0"/>
              <a:t> вровень с началом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ru-RU" dirty="0" smtClean="0"/>
              <a:t> </a:t>
            </a:r>
            <a:r>
              <a:rPr lang="ru-RU" dirty="0"/>
              <a:t>— выравнивает </a:t>
            </a:r>
            <a:r>
              <a:rPr lang="ru-RU" dirty="0" err="1"/>
              <a:t>грид</a:t>
            </a:r>
            <a:r>
              <a:rPr lang="ru-RU" dirty="0"/>
              <a:t> вровень с концом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ru-RU" dirty="0" smtClean="0"/>
              <a:t> </a:t>
            </a:r>
            <a:r>
              <a:rPr lang="ru-RU" dirty="0"/>
              <a:t>— выравнивает </a:t>
            </a:r>
            <a:r>
              <a:rPr lang="ru-RU" dirty="0" err="1"/>
              <a:t>грид</a:t>
            </a:r>
            <a:r>
              <a:rPr lang="ru-RU" dirty="0"/>
              <a:t> по центру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stretch</a:t>
            </a:r>
            <a:r>
              <a:rPr lang="ru-RU" dirty="0" smtClean="0"/>
              <a:t> </a:t>
            </a:r>
            <a:r>
              <a:rPr lang="ru-RU" dirty="0"/>
              <a:t>— меняет размеры </a:t>
            </a:r>
            <a:r>
              <a:rPr lang="ru-RU" dirty="0" err="1"/>
              <a:t>грид</a:t>
            </a:r>
            <a:r>
              <a:rPr lang="ru-RU" dirty="0"/>
              <a:t>-элементов так, чтобы они заняли всё пространство </a:t>
            </a:r>
            <a:r>
              <a:rPr lang="ru-RU" dirty="0" err="1"/>
              <a:t>грид</a:t>
            </a:r>
            <a:r>
              <a:rPr lang="ru-RU" dirty="0"/>
              <a:t>-контейнера;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space-around</a:t>
            </a:r>
            <a:r>
              <a:rPr lang="ru-RU" dirty="0" smtClean="0"/>
              <a:t> </a:t>
            </a:r>
            <a:r>
              <a:rPr lang="ru-RU" dirty="0"/>
              <a:t>— размещает </a:t>
            </a:r>
            <a:r>
              <a:rPr lang="ru-RU" dirty="0" err="1"/>
              <a:t>грид</a:t>
            </a:r>
            <a:r>
              <a:rPr lang="ru-RU" dirty="0"/>
              <a:t>-элементы по всему пространству </a:t>
            </a:r>
            <a:r>
              <a:rPr lang="ru-RU" dirty="0" err="1"/>
              <a:t>грид</a:t>
            </a:r>
            <a:r>
              <a:rPr lang="ru-RU" dirty="0"/>
              <a:t>-контейнера с равными промежутками между элементами и половинными (от размера отступа между элементами) промежутками между краями </a:t>
            </a:r>
            <a:r>
              <a:rPr lang="ru-RU" dirty="0" err="1"/>
              <a:t>грида</a:t>
            </a:r>
            <a:r>
              <a:rPr lang="ru-RU" dirty="0"/>
              <a:t> и его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space-between</a:t>
            </a:r>
            <a:r>
              <a:rPr lang="ru-RU" dirty="0" smtClean="0"/>
              <a:t> </a:t>
            </a:r>
            <a:r>
              <a:rPr lang="ru-RU" dirty="0"/>
              <a:t>— размещает </a:t>
            </a:r>
            <a:r>
              <a:rPr lang="ru-RU" dirty="0" err="1"/>
              <a:t>грид</a:t>
            </a:r>
            <a:r>
              <a:rPr lang="ru-RU" dirty="0"/>
              <a:t>-элементы по всему пространству </a:t>
            </a:r>
            <a:r>
              <a:rPr lang="ru-RU" dirty="0" err="1"/>
              <a:t>грид</a:t>
            </a:r>
            <a:r>
              <a:rPr lang="ru-RU" dirty="0"/>
              <a:t>-контейнера с равными промежутками между элементами и без отступов по краям </a:t>
            </a:r>
            <a:r>
              <a:rPr lang="ru-RU" dirty="0" err="1"/>
              <a:t>грида</a:t>
            </a:r>
            <a:r>
              <a:rPr lang="ru-RU" dirty="0"/>
              <a:t>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space-evenly</a:t>
            </a:r>
            <a:r>
              <a:rPr lang="ru-RU" dirty="0" smtClean="0"/>
              <a:t> </a:t>
            </a:r>
            <a:r>
              <a:rPr lang="ru-RU" dirty="0"/>
              <a:t>— размещает </a:t>
            </a:r>
            <a:r>
              <a:rPr lang="ru-RU" dirty="0" err="1"/>
              <a:t>грид</a:t>
            </a:r>
            <a:r>
              <a:rPr lang="ru-RU" dirty="0"/>
              <a:t> элементы по всему пространству </a:t>
            </a:r>
            <a:r>
              <a:rPr lang="ru-RU" dirty="0" err="1"/>
              <a:t>грид</a:t>
            </a:r>
            <a:r>
              <a:rPr lang="ru-RU" dirty="0"/>
              <a:t>-контейнера с равными промежутками между </a:t>
            </a:r>
            <a:r>
              <a:rPr lang="ru-RU" dirty="0" err="1"/>
              <a:t>грид</a:t>
            </a:r>
            <a:r>
              <a:rPr lang="ru-RU" dirty="0"/>
              <a:t>-элементами и краями </a:t>
            </a:r>
            <a:r>
              <a:rPr lang="ru-RU" dirty="0" err="1"/>
              <a:t>грида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404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Выравнивание </a:t>
            </a:r>
            <a:r>
              <a:rPr lang="ru-RU" b="1" dirty="0" err="1"/>
              <a:t>грида</a:t>
            </a:r>
            <a:r>
              <a:rPr lang="ru-RU" b="1" dirty="0"/>
              <a:t> в его контейнере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24</a:t>
            </a:fld>
            <a:endParaRPr lang="ru-RU"/>
          </a:p>
        </p:txBody>
      </p:sp>
      <p:pic>
        <p:nvPicPr>
          <p:cNvPr id="5" name="Рисунок 4" descr="Выравнивание грида в его контейнере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1733"/>
            <a:ext cx="8722118" cy="43035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32543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979</Words>
  <Application>Microsoft Office PowerPoint</Application>
  <PresentationFormat>Широкоэкранный</PresentationFormat>
  <Paragraphs>132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Тема Office</vt:lpstr>
      <vt:lpstr>GRID</vt:lpstr>
      <vt:lpstr>Основные понятия</vt:lpstr>
      <vt:lpstr>Основные понятия</vt:lpstr>
      <vt:lpstr>Грид-элементы</vt:lpstr>
      <vt:lpstr>Грид-сетка</vt:lpstr>
      <vt:lpstr>Координаты грид-элементов</vt:lpstr>
      <vt:lpstr>Координаты грид-элементов</vt:lpstr>
      <vt:lpstr>Координаты грид-элементов</vt:lpstr>
      <vt:lpstr>Грид области</vt:lpstr>
      <vt:lpstr>Грид области</vt:lpstr>
      <vt:lpstr>Грид-интервалы</vt:lpstr>
      <vt:lpstr>Gap и margin </vt:lpstr>
      <vt:lpstr>Размеры в гридах</vt:lpstr>
      <vt:lpstr>Размеры в гридах</vt:lpstr>
      <vt:lpstr>Размеры в гридах</vt:lpstr>
      <vt:lpstr>Размеры в гридах</vt:lpstr>
      <vt:lpstr>Размеры в гридах</vt:lpstr>
      <vt:lpstr>Выравнивание в гридах</vt:lpstr>
      <vt:lpstr>Выравнивание в гридах</vt:lpstr>
      <vt:lpstr>Выравнивание по горизонтали</vt:lpstr>
      <vt:lpstr>Выравнивание по вертикали</vt:lpstr>
      <vt:lpstr>Выравнивание в обоих направлениях</vt:lpstr>
      <vt:lpstr>Выравнивание грида в его контейнере</vt:lpstr>
      <vt:lpstr>Выравнивание грида в его контейнере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Lector</dc:creator>
  <cp:lastModifiedBy>Lector</cp:lastModifiedBy>
  <cp:revision>13</cp:revision>
  <cp:lastPrinted>2022-02-01T06:41:51Z</cp:lastPrinted>
  <dcterms:created xsi:type="dcterms:W3CDTF">2022-01-27T06:25:02Z</dcterms:created>
  <dcterms:modified xsi:type="dcterms:W3CDTF">2022-02-10T04:15:23Z</dcterms:modified>
</cp:coreProperties>
</file>